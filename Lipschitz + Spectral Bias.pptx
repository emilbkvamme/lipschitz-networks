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9" r:id="rId4"/>
    <p:sldId id="267" r:id="rId5"/>
    <p:sldId id="265" r:id="rId6"/>
    <p:sldId id="258" r:id="rId7"/>
    <p:sldId id="260" r:id="rId8"/>
    <p:sldId id="266" r:id="rId9"/>
    <p:sldId id="261" r:id="rId10"/>
    <p:sldId id="262" r:id="rId11"/>
    <p:sldId id="263" r:id="rId12"/>
    <p:sldId id="264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E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5"/>
  </p:normalViewPr>
  <p:slideViewPr>
    <p:cSldViewPr snapToGrid="0">
      <p:cViewPr>
        <p:scale>
          <a:sx n="157" d="100"/>
          <a:sy n="157" d="100"/>
        </p:scale>
        <p:origin x="512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7187c1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a7187c1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a7187c16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a7187c16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b65a0f77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b65a0f77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a7187c165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a7187c165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b65a0f77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b65a0f779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a7187c16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a7187c16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a7187c16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a7187c165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chapter/10.1007/978-3-031-83191-1_9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arxiv.org/abs/2202.08345" TargetMode="External"/><Relationship Id="rId4" Type="http://schemas.openxmlformats.org/officeDocument/2006/relationships/hyperlink" Target="https://arxiv.org/abs/2607.19335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rxiv.org/abs/2311.16833v1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311.06103v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12.0003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arxiv.org/abs/2609.07903" TargetMode="External"/><Relationship Id="rId5" Type="http://schemas.openxmlformats.org/officeDocument/2006/relationships/hyperlink" Target="https://arxiv.org/abs/2312.14265" TargetMode="External"/><Relationship Id="rId4" Type="http://schemas.openxmlformats.org/officeDocument/2006/relationships/hyperlink" Target="https://arxiv.org/abs/2306.09873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607.16329v2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o" sz="4000" dirty="0"/>
              <a:t>Lipschitz Bounding for Robustness - Overview</a:t>
            </a:r>
            <a:endParaRPr sz="40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Emil Bark Kvamme, M2, NTNU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36002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o" dirty="0"/>
              <a:t>Lipschitz Continuity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Google Shape;61;p1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1152475"/>
                <a:ext cx="3999900" cy="34164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r>
                  <a:rPr lang="en-GB" dirty="0"/>
                  <a:t>Relates distances between two metric spaces associated by a function </a:t>
                </a:r>
              </a:p>
              <a:p>
                <a:r>
                  <a:rPr lang="en-GB" dirty="0"/>
                  <a:t>Gives a lower bound on gradients globally</a:t>
                </a:r>
              </a:p>
              <a:p>
                <a:r>
                  <a:rPr lang="no" dirty="0"/>
                  <a:t>Three approaches</a:t>
                </a:r>
              </a:p>
              <a:p>
                <a:pPr lvl="1"/>
                <a:r>
                  <a:rPr lang="no" dirty="0"/>
                  <a:t>Estimation (of 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no" dirty="0"/>
                  <a:t>)</a:t>
                </a:r>
              </a:p>
              <a:p>
                <a:pPr lvl="1"/>
                <a:r>
                  <a:rPr lang="no" dirty="0"/>
                  <a:t>Regularization (soft or hard)</a:t>
                </a:r>
              </a:p>
              <a:p>
                <a:pPr lvl="1"/>
                <a:r>
                  <a:rPr lang="no" dirty="0"/>
                  <a:t>Certification</a:t>
                </a:r>
              </a:p>
              <a:p>
                <a:r>
                  <a:rPr lang="no" dirty="0"/>
                  <a:t>IDEA: Limiting the 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dirty="0"/>
                  <a:t>-parameter regularizes the network and can allow us to certify the robustness of the model</a:t>
                </a:r>
              </a:p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Char char="●"/>
                </a:pPr>
                <a:endParaRPr dirty="0"/>
              </a:p>
            </p:txBody>
          </p:sp>
        </mc:Choice>
        <mc:Fallback>
          <p:sp>
            <p:nvSpPr>
              <p:cNvPr id="61" name="Google Shape;61;p1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152475"/>
                <a:ext cx="3999900" cy="3416400"/>
              </a:xfrm>
              <a:prstGeom prst="rect">
                <a:avLst/>
              </a:prstGeom>
              <a:blipFill>
                <a:blip r:embed="rId3"/>
                <a:stretch>
                  <a:fillRect r="-1582"/>
                </a:stretch>
              </a:blipFill>
            </p:spPr>
            <p:txBody>
              <a:bodyPr/>
              <a:lstStyle/>
              <a:p>
                <a:r>
                  <a:rPr lang="en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9631EC9-F50F-6FE2-742D-45CCCE5A4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387" y="1553671"/>
            <a:ext cx="3994368" cy="30152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FA8856-4A9C-11F3-8107-8FC32676EFEA}"/>
                  </a:ext>
                </a:extLst>
              </p:cNvPr>
              <p:cNvSpPr txBox="1"/>
              <p:nvPr/>
            </p:nvSpPr>
            <p:spPr>
              <a:xfrm>
                <a:off x="4832402" y="1049559"/>
                <a:ext cx="3842260" cy="504112"/>
              </a:xfrm>
              <a:prstGeom prst="rect">
                <a:avLst/>
              </a:prstGeom>
              <a:solidFill>
                <a:srgbClr val="E7EEF5"/>
              </a:solidFill>
              <a:ln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139700">
                  <a:buClr>
                    <a:schemeClr val="dk2"/>
                  </a:buClr>
                  <a:buSzPts val="14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b-NO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nb-NO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nb-NO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b-NO" sz="1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nb-NO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nb-NO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b-NO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nb-NO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nb-NO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nb-NO" sz="1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nb-NO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nb-NO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b-NO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nb-NO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nb-NO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18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nb-NO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b>
                      </m:sSub>
                      <m:r>
                        <a:rPr lang="nb-NO" sz="18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nb-NO" sz="1800" i="1">
                          <a:latin typeface="Cambria Math" panose="02040503050406030204" pitchFamily="18" charset="0"/>
                        </a:rPr>
                        <m:t>𝐿</m:t>
                      </m:r>
                      <m:sSub>
                        <m:sSubPr>
                          <m:ctrlPr>
                            <a:rPr lang="nb-NO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nb-NO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nb-NO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nb-NO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b-NO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nb-NO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nb-NO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nb-NO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b-NO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nb-NO" sz="1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nb-NO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18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nb-NO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NO" sz="1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FA8856-4A9C-11F3-8107-8FC32676E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2402" y="1049559"/>
                <a:ext cx="3842260" cy="5041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N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Lipshitz Network: Current technical implementations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Most of the work is done on FFTs or CNNs</a:t>
            </a:r>
          </a:p>
          <a:p>
            <a:pPr lvl="1" indent="-317500">
              <a:buSzPts val="1400"/>
              <a:buChar char="●"/>
            </a:pPr>
            <a:r>
              <a:rPr lang="no" dirty="0"/>
              <a:t>Nothing on particle clouds, a little on transformers</a:t>
            </a:r>
          </a:p>
          <a:p>
            <a:r>
              <a:rPr lang="no" dirty="0"/>
              <a:t>Approach: Layerwise or entire network parametrization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Sandwhich layers</a:t>
            </a:r>
          </a:p>
          <a:p>
            <a:pPr lvl="1" indent="-317500">
              <a:buSzPts val="1400"/>
              <a:buChar char="●"/>
            </a:pPr>
            <a:r>
              <a:rPr lang="no" dirty="0"/>
              <a:t>Not compared with the others methods yet</a:t>
            </a:r>
          </a:p>
          <a:p>
            <a:pPr lvl="1" indent="-317500">
              <a:buSzPts val="1400"/>
              <a:buChar char="●"/>
            </a:pPr>
            <a:r>
              <a:rPr lang="nb-NO" dirty="0" err="1"/>
              <a:t>Outperforms</a:t>
            </a:r>
            <a:r>
              <a:rPr lang="nb-NO" dirty="0"/>
              <a:t> </a:t>
            </a:r>
            <a:r>
              <a:rPr lang="nb-NO" dirty="0" err="1"/>
              <a:t>Spectral</a:t>
            </a:r>
            <a:r>
              <a:rPr lang="nb-NO" dirty="0"/>
              <a:t> </a:t>
            </a:r>
            <a:r>
              <a:rPr lang="nb-NO" dirty="0" err="1"/>
              <a:t>Normalization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>
                <a:hlinkClick r:id="rId3"/>
              </a:rPr>
              <a:t>certain</a:t>
            </a:r>
            <a:r>
              <a:rPr lang="nb-NO" dirty="0">
                <a:hlinkClick r:id="rId3"/>
              </a:rPr>
              <a:t> </a:t>
            </a:r>
            <a:r>
              <a:rPr lang="nb-NO" dirty="0" err="1">
                <a:hlinkClick r:id="rId3"/>
              </a:rPr>
              <a:t>reinforcement</a:t>
            </a:r>
            <a:r>
              <a:rPr lang="nb-NO" dirty="0">
                <a:hlinkClick r:id="rId3"/>
              </a:rPr>
              <a:t> </a:t>
            </a:r>
            <a:r>
              <a:rPr lang="nb-NO" dirty="0" err="1">
                <a:hlinkClick r:id="rId3"/>
              </a:rPr>
              <a:t>learning</a:t>
            </a:r>
            <a:r>
              <a:rPr lang="nb-NO" dirty="0">
                <a:hlinkClick r:id="rId3"/>
              </a:rPr>
              <a:t> problems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Block orthogonal convolution parametrization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Caley transform based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Skew Orthogonal Convolution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Almost Orthogonal Lipschitz (AOL) layers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Layer-wise Orthogonal Training (LOT)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Convex Potantial Layer (CPL)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SDP-based Lipschitz Layers (SLL) (Arujo)</a:t>
            </a: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GB" dirty="0"/>
              <a:t>Modular usage in layers ensures complete Lipschitz bounded network</a:t>
            </a:r>
            <a:endParaRPr lang="no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On manifolds: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no" sz="1100" u="sng" dirty="0">
                <a:solidFill>
                  <a:schemeClr val="hlink"/>
                </a:solidFill>
                <a:hlinkClick r:id="rId4"/>
              </a:rPr>
              <a:t>https://arxiv.org/abs/2607.19335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no" dirty="0"/>
              <a:t>Learning Smooth Neural functions via Lipschitz Regularization: </a:t>
            </a:r>
            <a:r>
              <a:rPr lang="no" sz="1100" u="sng" dirty="0">
                <a:solidFill>
                  <a:schemeClr val="hlink"/>
                </a:solidFill>
                <a:hlinkClick r:id="rId5"/>
              </a:rPr>
              <a:t>https://arxiv.org/abs/2202.08345</a:t>
            </a:r>
            <a:endParaRPr lang="no" sz="1100" u="sng" dirty="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F4CA3-D3D7-18FF-D0A1-DDAC56EC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O" dirty="0"/>
              <a:t>Technical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65D88-667B-F76A-DB01-607FE12EC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NO" dirty="0"/>
              <a:t>Layer-wise</a:t>
            </a:r>
          </a:p>
          <a:p>
            <a:r>
              <a:rPr lang="en-NO" dirty="0"/>
              <a:t>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05ED6-4446-CC67-5A29-F91BC29E3B5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NO" dirty="0"/>
              <a:t>Full network parametrization</a:t>
            </a:r>
          </a:p>
          <a:p>
            <a:r>
              <a:rPr lang="en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2680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C54BD-5E8F-E6C3-6BAC-755B5C21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O" dirty="0"/>
              <a:t>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D212E-7A65-E099-86B3-D7C211DA3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O" dirty="0"/>
              <a:t>1-Lipschitz Layers Compared: Memory, Speed, and Certifiable robustness</a:t>
            </a:r>
          </a:p>
          <a:p>
            <a:pPr lvl="1"/>
            <a:r>
              <a:rPr lang="en-GB" dirty="0">
                <a:hlinkClick r:id="rId2"/>
              </a:rPr>
              <a:t>https://arxiv.org/abs/2311.16833v1</a:t>
            </a:r>
            <a:r>
              <a:rPr lang="en-GB" dirty="0"/>
              <a:t> </a:t>
            </a:r>
          </a:p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5CBC1-09E1-FD07-F2E3-5C4CA52521F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N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7C3048-04C4-4CD9-1EDC-02675A514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909" y="0"/>
            <a:ext cx="3184882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3B36B0-43A2-E359-F176-F7C728BD5AC2}"/>
              </a:ext>
            </a:extLst>
          </p:cNvPr>
          <p:cNvSpPr txBox="1"/>
          <p:nvPr/>
        </p:nvSpPr>
        <p:spPr>
          <a:xfrm>
            <a:off x="202783" y="4698475"/>
            <a:ext cx="41088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9700">
              <a:buClr>
                <a:schemeClr val="dk2"/>
              </a:buClr>
              <a:buSzPts val="1400"/>
            </a:pPr>
            <a:r>
              <a:rPr lang="en-NO" sz="900" dirty="0"/>
              <a:t>1-Lipschitz Layers Compared: Memory, Speed, and Certifiable robustness</a:t>
            </a:r>
          </a:p>
          <a:p>
            <a:pPr marL="139700">
              <a:buClr>
                <a:schemeClr val="dk2"/>
              </a:buClr>
              <a:buSzPts val="1400"/>
            </a:pPr>
            <a:r>
              <a:rPr lang="en-GB" sz="900" dirty="0">
                <a:hlinkClick r:id="rId2"/>
              </a:rPr>
              <a:t>https://arxiv.org/abs/2311.16833v1</a:t>
            </a:r>
            <a:r>
              <a:rPr lang="en-GB" sz="900" dirty="0"/>
              <a:t> </a:t>
            </a:r>
          </a:p>
          <a:p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337522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o" dirty="0"/>
              <a:t>Note on the activation functions</a:t>
            </a:r>
            <a:endParaRPr dirty="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The problem of ReLu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GroupSort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Linear Splines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MinMax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N-activations </a:t>
            </a:r>
            <a:r>
              <a:rPr lang="no" sz="1100" u="sng" dirty="0">
                <a:solidFill>
                  <a:schemeClr val="hlink"/>
                </a:solidFill>
                <a:hlinkClick r:id="rId3"/>
              </a:rPr>
              <a:t>https://arxiv.org/html/2311.06103v2</a:t>
            </a:r>
            <a:r>
              <a:rPr lang="no" dirty="0"/>
              <a:t> 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Others???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no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Conclusively: Some work will need to be done to select tha appropriate activation function</a:t>
            </a:r>
            <a:endParaRPr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Applications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 dirty="0"/>
              <a:t>High Energy Physics =&gt; LHCb trigger: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no" sz="1200" dirty="0"/>
              <a:t>Robust and Provably Monotonic Networks </a:t>
            </a:r>
            <a:r>
              <a:rPr lang="no" sz="1100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arXiv:2112.00038</a:t>
            </a:r>
            <a:r>
              <a:rPr lang="no" u="sng" dirty="0"/>
              <a:t> </a:t>
            </a:r>
            <a:r>
              <a:rPr lang="no" sz="900" b="1" dirty="0">
                <a:solidFill>
                  <a:schemeClr val="dk1"/>
                </a:solidFill>
                <a:highlight>
                  <a:srgbClr val="FFFFFF"/>
                </a:highlight>
              </a:rPr>
              <a:t>(15.03.2023)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no" dirty="0"/>
              <a:t>Development of the topological trigger for LHCb run 3 </a:t>
            </a:r>
            <a:r>
              <a:rPr lang="no" sz="1100" u="sng" dirty="0">
                <a:solidFill>
                  <a:schemeClr val="hlink"/>
                </a:solidFill>
                <a:hlinkClick r:id="rId4"/>
              </a:rPr>
              <a:t>arXiv:2306.09873</a:t>
            </a:r>
            <a:r>
              <a:rPr lang="no" sz="900" b="1" dirty="0">
                <a:solidFill>
                  <a:schemeClr val="dk1"/>
                </a:solidFill>
                <a:highlight>
                  <a:srgbClr val="FFFFFF"/>
                </a:highlight>
              </a:rPr>
              <a:t> (20.06.2023)</a:t>
            </a:r>
            <a:endParaRPr sz="14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no" dirty="0"/>
              <a:t>Applications of Lipschitz Neural Networks to the run 3 LHCb trigger system </a:t>
            </a:r>
            <a:r>
              <a:rPr lang="no" sz="1100" u="sng" dirty="0">
                <a:solidFill>
                  <a:schemeClr val="hlink"/>
                </a:solidFill>
                <a:hlinkClick r:id="rId5"/>
              </a:rPr>
              <a:t>arXiv:2312.14265</a:t>
            </a:r>
            <a:r>
              <a:rPr lang="no" sz="1100" u="sng" dirty="0"/>
              <a:t> </a:t>
            </a:r>
            <a:r>
              <a:rPr lang="no" sz="900" b="1" dirty="0">
                <a:solidFill>
                  <a:schemeClr val="dk1"/>
                </a:solidFill>
                <a:highlight>
                  <a:srgbClr val="FFFFFF"/>
                </a:highlight>
              </a:rPr>
              <a:t>(21.12.2023)</a:t>
            </a:r>
            <a:endParaRPr sz="1100" u="sng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no" dirty="0"/>
              <a:t>Real time lepton-identification at the LHCb in run 3 using Lipschitz neural networks </a:t>
            </a:r>
            <a:r>
              <a:rPr lang="no" sz="1100" u="sng" dirty="0">
                <a:solidFill>
                  <a:schemeClr val="hlink"/>
                </a:solidFill>
                <a:hlinkClick r:id="rId6"/>
              </a:rPr>
              <a:t>arXiv:2609.07903</a:t>
            </a:r>
            <a:r>
              <a:rPr lang="no" sz="900" b="1" dirty="0">
                <a:solidFill>
                  <a:schemeClr val="dk1"/>
                </a:solidFill>
                <a:highlight>
                  <a:srgbClr val="FFFFFF"/>
                </a:highlight>
              </a:rPr>
              <a:t> (07.09.2026)</a:t>
            </a:r>
            <a:endParaRPr sz="900" b="1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900" b="1" dirty="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/>
              <a:t>Others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no"/>
              <a:t>Wasserstein GANs are by construction 1-Lipschitz constrained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5A07-C2DA-BE10-3679-90F1D8F1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O" dirty="0"/>
              <a:t>Conclusive remarks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DE26B-2529-C4FF-05C9-3EE320930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O" dirty="0"/>
              <a:t>As far as I can find, most energy has been put into fully forward and convolutional networks</a:t>
            </a:r>
          </a:p>
          <a:p>
            <a:pPr lvl="1"/>
            <a:r>
              <a:rPr lang="en-NO" dirty="0"/>
              <a:t>Some work has been put into transformers and certain reinforcement learning methods</a:t>
            </a:r>
          </a:p>
          <a:p>
            <a:pPr lvl="1"/>
            <a:r>
              <a:rPr lang="en-NO" dirty="0"/>
              <a:t>Particle cloud methods are less explored and presents a possible frontier</a:t>
            </a:r>
          </a:p>
          <a:p>
            <a:r>
              <a:rPr lang="en-NO" dirty="0"/>
              <a:t>Lipschitz bounding seems to be a good alternative to methods like Random…</a:t>
            </a:r>
          </a:p>
          <a:p>
            <a:pPr lvl="1"/>
            <a:r>
              <a:rPr lang="en-NO" dirty="0"/>
              <a:t>It is less computationally intensive both at inference stage and at training, but looses some tightness towards…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45F49-A4E0-57E0-82E6-ADAABFECDEF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14522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Supplementary Slides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/>
              <a:t>Spectral Bias: the learnable modes are initially low frequency.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/>
              <a:t>Semi-definite programming (SDP)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/>
              <a:t>NP-hardness of the Lipschitz constant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/>
              <a:t>Other Regularization Approaches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/>
              <a:t>Review of todays standing: </a:t>
            </a:r>
            <a:r>
              <a:rPr lang="no" sz="1100" u="sng">
                <a:solidFill>
                  <a:schemeClr val="hlink"/>
                </a:solidFill>
                <a:hlinkClick r:id="rId3"/>
              </a:rPr>
              <a:t>https://arxiv.org/pdf/2607.16329v2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Spectral Bias: Preference for low frequency modes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Lipschitz + Spectral Bias: Combination Strategies</a:t>
            </a:r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FF180-5220-12AB-28F0-E917B035C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</a:t>
            </a:r>
            <a:r>
              <a:rPr lang="en-NO" dirty="0"/>
              <a:t>ibliography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D0308-9327-AD53-6ACA-AA85F9356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A7C8C-D78C-352F-BF40-253737767B1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29479968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</Words>
  <Application>Microsoft Macintosh PowerPoint</Application>
  <PresentationFormat>On-screen Show (16:9)</PresentationFormat>
  <Paragraphs>71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Cambria Math</vt:lpstr>
      <vt:lpstr>Simple Light</vt:lpstr>
      <vt:lpstr>Lipschitz Bounding for Robustness - Overview</vt:lpstr>
      <vt:lpstr>Lipschitz Continuity</vt:lpstr>
      <vt:lpstr>Lipshitz Network: Current technical implementations</vt:lpstr>
      <vt:lpstr>Technical approaches</vt:lpstr>
      <vt:lpstr>Performance</vt:lpstr>
      <vt:lpstr>Note on the activation functions</vt:lpstr>
      <vt:lpstr>Applications</vt:lpstr>
      <vt:lpstr>Conclusive remarks</vt:lpstr>
      <vt:lpstr>Supplementary Slides</vt:lpstr>
      <vt:lpstr>Spectral Bias: Preference for low frequency modes</vt:lpstr>
      <vt:lpstr>Lipschitz + Spectral Bias: Combination Strategies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Emil Bark Kvamme</cp:lastModifiedBy>
  <cp:revision>1</cp:revision>
  <dcterms:modified xsi:type="dcterms:W3CDTF">2026-09-21T21:12:05Z</dcterms:modified>
</cp:coreProperties>
</file>